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1" name="Ellipse"/>
          <p:cNvSpPr/>
          <p:nvPr/>
        </p:nvSpPr>
        <p:spPr>
          <a:xfrm>
            <a:off x="9300000" y="650000"/>
            <a:ext cx="1550000" cy="1550000"/>
          </a:xfrm>
          <a:prstGeom prst="ellipse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" name="Ellipse"/>
          <p:cNvSpPr/>
          <p:nvPr/>
        </p:nvSpPr>
        <p:spPr>
          <a:xfrm>
            <a:off x="9680000" y="1030000"/>
            <a:ext cx="780000" cy="780000"/>
          </a:xfrm>
          <a:prstGeom prst="ellipse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3" name="Main title"/>
          <p:cNvSpPr txBox="1"/>
          <p:nvPr/>
        </p:nvSpPr>
        <p:spPr>
          <a:xfrm>
            <a:off x="650000" y="1200000"/>
            <a:ext cx="10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31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31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پیش‌بینی چندافقی جهت قیمت طلا</a:t>
            </a:r>
            <a:endParaRPr lang="fa-IR" sz="31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31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31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با چارچوب ترکیبی مبتنی بر نمای هرست</a:t>
            </a:r>
            <a:endParaRPr lang="fa-IR" sz="3100">
              <a:latin typeface="B Nazanin"/>
              <a:ea typeface="B Nazanin"/>
              <a:cs typeface="B Nazanin"/>
            </a:endParaRPr>
          </a:p>
        </p:txBody>
      </p:sp>
      <p:sp>
        <p:nvSpPr>
          <p:cNvPr id="4" name="Title rule"/>
          <p:cNvSpPr/>
          <p:nvPr/>
        </p:nvSpPr>
        <p:spPr>
          <a:xfrm>
            <a:off x="650000" y="2440000"/>
            <a:ext cx="3900000" cy="7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5" name="Subtitle"/>
          <p:cNvSpPr txBox="1"/>
          <p:nvPr/>
        </p:nvSpPr>
        <p:spPr>
          <a:xfrm>
            <a:off x="650000" y="2700000"/>
            <a:ext cx="100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000" b="0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000" b="0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روش پیشنهادی، آزمون حذف مؤلفه و ارزیابی قابل ممیزی</a:t>
            </a:r>
            <a:endParaRPr lang="fa-IR" sz="2000">
              <a:latin typeface="B Nazanin"/>
              <a:ea typeface="B Nazanin"/>
              <a:cs typeface="B Nazanin"/>
            </a:endParaRPr>
          </a:p>
        </p:txBody>
      </p:sp>
      <p:sp>
        <p:nvSpPr>
          <p:cNvPr id="6" name="Title details"/>
          <p:cNvSpPr txBox="1"/>
          <p:nvPr/>
        </p:nvSpPr>
        <p:spPr>
          <a:xfrm>
            <a:off x="650000" y="3800000"/>
            <a:ext cx="100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موضوع: XAUUSD | افق‌های ۱، ۵، ۱۰ و ۲۰ روزه</a:t>
            </a:r>
            <a:endParaRPr lang="fa-IR" sz="16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— زمان کل: حدود ۱۷ تا ۱۸ دقیقه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7" name="Title footer"/>
          <p:cNvSpPr txBox="1"/>
          <p:nvPr/>
        </p:nvSpPr>
        <p:spPr>
          <a:xfrm>
            <a:off x="650000" y="6200000"/>
            <a:ext cx="10800000" cy="2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1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1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B Nazanin 14 | نسخه ارائه بر اساس پایان‌نامه نهایی</a:t>
            </a:r>
            <a:endParaRPr lang="fa-IR" sz="11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. بازار مالی و جایگاه طلا در پژوه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۱. بازار مالی و جایگاه طلا در پژوهش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2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10" name="Content panel"/>
          <p:cNvSpPr/>
          <p:nvPr/>
        </p:nvSpPr>
        <p:spPr>
          <a:xfrm>
            <a:off x="600000" y="1250000"/>
            <a:ext cx="5150000" cy="455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50000" y="1500000"/>
            <a:ext cx="465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بازار مالی چیست؟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50000" y="2200000"/>
            <a:ext cx="4650000" cy="28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سازوکار مبادله دارایی‌ها و انتقال ریسک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قیمت‌ها حاصل برهم‌کنش عرضه، تقاضا و اطلاعات‌اند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عدم‌قطعیت، نوسان و نقدشوندگی در زمان تغییر می‌کنند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بازده گذشته تضمین‌کننده بازده آینده نیست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0" name="Content panel"/>
          <p:cNvSpPr/>
          <p:nvPr/>
        </p:nvSpPr>
        <p:spPr>
          <a:xfrm>
            <a:off x="6200000" y="1250000"/>
            <a:ext cx="4950000" cy="45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500000" y="1500000"/>
            <a:ext cx="435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چرا طلا / XAUUSD؟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6500000" y="2200000"/>
            <a:ext cx="4350000" cy="26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طلا هم‌زمان یک دارایی مالی، ذخیره ارزش و ابزار پوشش ریسک است.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 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در این مطالعه، XAUUSD با کندل‌های روزانه و قرارداد داده‌ای مشخص بررسی می‌شود؛ بنابراین نتیجه به همین بازار، feed و تناوب محدود است.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3" name="Pill"/>
          <p:cNvSpPr/>
          <p:nvPr/>
        </p:nvSpPr>
        <p:spPr>
          <a:xfrm>
            <a:off x="7450000" y="5050000"/>
            <a:ext cx="3100000" cy="500000"/>
          </a:xfrm>
          <a:prstGeom prst="round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450000" y="5050000"/>
            <a:ext cx="31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3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3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هدف: پیش‌بینی جهت، نه توصیه سرمایه‌گذاری</a:t>
            </a:r>
            <a:endParaRPr lang="fa-IR" sz="13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۲. مسئله پژوهش و پرسش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۲. مسئله پژوهش و پرسش اصلی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3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30" name="Content panel"/>
          <p:cNvSpPr/>
          <p:nvPr/>
        </p:nvSpPr>
        <p:spPr>
          <a:xfrm>
            <a:off x="600000" y="1250000"/>
            <a:ext cx="6100000" cy="455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50000" y="1500000"/>
            <a:ext cx="5600000" cy="5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چرا پیش‌بینی جهت طلا دشوار است؟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850000" y="2250000"/>
            <a:ext cx="5600000" cy="28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بازار غیرایستا و دارای تغییر رژیم است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نویز زیاد و وابستگی عملکرد به افق زمانی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هم‌پوشانی برچسب‌ها، خطر نشت ایجاد می‌کند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اعتبارسنجی تصادفی می‌تواند خوش‌بینی کاذب بسازد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دقت آماری الزاماً قابلیت اجرای واقعی نیست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40" name="Content panel"/>
          <p:cNvSpPr/>
          <p:nvPr/>
        </p:nvSpPr>
        <p:spPr>
          <a:xfrm>
            <a:off x="7350000" y="1250000"/>
            <a:ext cx="4150000" cy="45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7600000" y="1550000"/>
            <a:ext cx="365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پرسش اصلی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42" name="Text 42"/>
          <p:cNvSpPr txBox="1"/>
          <p:nvPr/>
        </p:nvSpPr>
        <p:spPr>
          <a:xfrm>
            <a:off x="7600000" y="2400000"/>
            <a:ext cx="365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آیا افزودن اطلاعات رژیمی مبتنی بر نمای هرست، در پیش‌بینی چندافقی XAUUSD ارزش افزوده پایدار ایجاد می‌کند؟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43" name="Pill"/>
          <p:cNvSpPr/>
          <p:nvPr/>
        </p:nvSpPr>
        <p:spPr>
          <a:xfrm>
            <a:off x="8000000" y="4650000"/>
            <a:ext cx="2800000" cy="50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8000000" y="4650000"/>
            <a:ext cx="28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3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3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Hurst = زمینه بازار</a:t>
            </a:r>
            <a:endParaRPr lang="fa-IR" sz="13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۳. شکاف پژوهشی و نوآوری ترکیب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۳. شکاف پژوهشی و نوآوری ترکیبی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4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50" name="Content panel"/>
          <p:cNvSpPr/>
          <p:nvPr/>
        </p:nvSpPr>
        <p:spPr>
          <a:xfrm>
            <a:off x="600000" y="1250000"/>
            <a:ext cx="3350000" cy="43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51" name="Card accent"/>
          <p:cNvSpPr/>
          <p:nvPr/>
        </p:nvSpPr>
        <p:spPr>
          <a:xfrm>
            <a:off x="600000" y="1250000"/>
            <a:ext cx="90000" cy="4300000"/>
          </a:xfrm>
          <a:prstGeom prst="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770000" y="1400000"/>
            <a:ext cx="30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6EA8FE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6EA8FE"/>
                </a:solidFill>
                <a:latin typeface="B Nazanin"/>
                <a:ea typeface="B Nazanin"/>
                <a:cs typeface="B Nazanin"/>
              </a:rPr>
              <a:t>آنچه جدا بررسی می‌شود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53" name="Text 53"/>
          <p:cNvSpPr txBox="1"/>
          <p:nvPr/>
        </p:nvSpPr>
        <p:spPr>
          <a:xfrm>
            <a:off x="770000" y="1900000"/>
            <a:ext cx="301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نمای هرست و DFA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مدل‌های یادگیری ماشین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استراتژی معاملاتی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اعتبارسنجی عملکرد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60" name="Content panel"/>
          <p:cNvSpPr/>
          <p:nvPr/>
        </p:nvSpPr>
        <p:spPr>
          <a:xfrm>
            <a:off x="4250000" y="1250000"/>
            <a:ext cx="3350000" cy="43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61" name="Card accent"/>
          <p:cNvSpPr/>
          <p:nvPr/>
        </p:nvSpPr>
        <p:spPr>
          <a:xfrm>
            <a:off x="4250000" y="1250000"/>
            <a:ext cx="90000" cy="4300000"/>
          </a:xfrm>
          <a:prstGeom prst="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4420000" y="1400000"/>
            <a:ext cx="30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خلأ روش‌شناختی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63" name="Text 63"/>
          <p:cNvSpPr txBox="1"/>
          <p:nvPr/>
        </p:nvSpPr>
        <p:spPr>
          <a:xfrm>
            <a:off x="4420000" y="1900000"/>
            <a:ext cx="301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مقایسه با خط پایه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تفکیک هدف آماری و اجرایی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کنترل هم‌پوشانی برچسب‌ها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ثبت قابل ممیزی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70" name="Content panel"/>
          <p:cNvSpPr/>
          <p:nvPr/>
        </p:nvSpPr>
        <p:spPr>
          <a:xfrm>
            <a:off x="7900000" y="1250000"/>
            <a:ext cx="3350000" cy="43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71" name="Card accent"/>
          <p:cNvSpPr/>
          <p:nvPr/>
        </p:nvSpPr>
        <p:spPr>
          <a:xfrm>
            <a:off x="7900000" y="1250000"/>
            <a:ext cx="90000" cy="430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72" name="Text 72"/>
          <p:cNvSpPr txBox="1"/>
          <p:nvPr/>
        </p:nvSpPr>
        <p:spPr>
          <a:xfrm>
            <a:off x="8070000" y="1400000"/>
            <a:ext cx="30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نوآوری ترکیبی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73" name="Text 73"/>
          <p:cNvSpPr txBox="1"/>
          <p:nvPr/>
        </p:nvSpPr>
        <p:spPr>
          <a:xfrm>
            <a:off x="8070000" y="1900000"/>
            <a:ext cx="3010000" cy="3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ادغام کنترل‌شده اجزا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Ablation از پیش‌تعریف‌شده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Walk-Forward و Purge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نتیجه‌گیری با ادعای محدود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80" name="Text 80"/>
          <p:cNvSpPr txBox="1"/>
          <p:nvPr/>
        </p:nvSpPr>
        <p:spPr>
          <a:xfrm>
            <a:off x="600000" y="57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8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نوآوری در ابداع DFA یا Stacking نیست؛ در طراحی پروتکل یکپارچه برای سنجش اثر مستقل Hurst است.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۴. داده و قرارداد اطلاع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۴. داده و قرارداد اطلاعات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5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90" name="Content panel"/>
          <p:cNvSpPr/>
          <p:nvPr/>
        </p:nvSpPr>
        <p:spPr>
          <a:xfrm>
            <a:off x="600000" y="1250000"/>
            <a:ext cx="4400000" cy="455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91" name="Text 91"/>
          <p:cNvSpPr txBox="1"/>
          <p:nvPr/>
        </p:nvSpPr>
        <p:spPr>
          <a:xfrm>
            <a:off x="850000" y="1500000"/>
            <a:ext cx="39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مشخصات داده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92" name="Text 92"/>
          <p:cNvSpPr txBox="1"/>
          <p:nvPr/>
        </p:nvSpPr>
        <p:spPr>
          <a:xfrm>
            <a:off x="850000" y="2150000"/>
            <a:ext cx="3900000" cy="29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۴٬۰۱۷ مشاهده روزانه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۳ ژانویه ۲۰۱۱ تا ۳۱ ژوئیه ۲۰۲۶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XAUUSD از MetaQuotes-Demo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OHLCV؛ حجم از نوع Tick Volume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تناوب روزانه و زمان UTC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100" name="Content panel"/>
          <p:cNvSpPr/>
          <p:nvPr/>
        </p:nvSpPr>
        <p:spPr>
          <a:xfrm>
            <a:off x="5350000" y="1250000"/>
            <a:ext cx="6100000" cy="45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5650000" y="1500000"/>
            <a:ext cx="55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قرارداد افق‌ها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102" name="Pill"/>
          <p:cNvSpPr/>
          <p:nvPr/>
        </p:nvSpPr>
        <p:spPr>
          <a:xfrm>
            <a:off x="5750000" y="2450000"/>
            <a:ext cx="1150000" cy="75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103" name="Text 103"/>
          <p:cNvSpPr txBox="1"/>
          <p:nvPr/>
        </p:nvSpPr>
        <p:spPr>
          <a:xfrm>
            <a:off x="5750000" y="2450000"/>
            <a:ext cx="1150000" cy="7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H=۱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104" name="Pill"/>
          <p:cNvSpPr/>
          <p:nvPr/>
        </p:nvSpPr>
        <p:spPr>
          <a:xfrm>
            <a:off x="7100000" y="2450000"/>
            <a:ext cx="1150000" cy="75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7100000" y="2450000"/>
            <a:ext cx="1150000" cy="7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H=۵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106" name="Pill"/>
          <p:cNvSpPr/>
          <p:nvPr/>
        </p:nvSpPr>
        <p:spPr>
          <a:xfrm>
            <a:off x="8450000" y="2450000"/>
            <a:ext cx="1200000" cy="75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107" name="Text 107"/>
          <p:cNvSpPr txBox="1"/>
          <p:nvPr/>
        </p:nvSpPr>
        <p:spPr>
          <a:xfrm>
            <a:off x="8450000" y="2450000"/>
            <a:ext cx="1200000" cy="7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H=۱۰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108" name="Pill"/>
          <p:cNvSpPr/>
          <p:nvPr/>
        </p:nvSpPr>
        <p:spPr>
          <a:xfrm>
            <a:off x="9850000" y="2450000"/>
            <a:ext cx="1200000" cy="75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9850000" y="2450000"/>
            <a:ext cx="1200000" cy="7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H=۲۰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110" name="Text 110"/>
          <p:cNvSpPr txBox="1"/>
          <p:nvPr/>
        </p:nvSpPr>
        <p:spPr>
          <a:xfrm>
            <a:off x="5650000" y="3550000"/>
            <a:ext cx="5500000" cy="1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۴۰۱۷ تعداد کل کندل‌هاست؛ تعداد مؤثر ارزیابی پس از گرم‌شدن ویژگی‌ها، افق هدف و purge کمتر می‌شود.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۵. آماده‌سازی داده و طراحی ویژگی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۵. آماده‌سازی داده و طراحی ویژگی‌ها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6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120" name="Text 120"/>
          <p:cNvSpPr txBox="1"/>
          <p:nvPr/>
        </p:nvSpPr>
        <p:spPr>
          <a:xfrm>
            <a:off x="700000" y="1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3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3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اصل طراحی: فقط اطلاعات در دسترس تا زمان تصمیم</a:t>
            </a:r>
            <a:endParaRPr lang="fa-IR" sz="1300">
              <a:latin typeface="B Nazanin"/>
              <a:ea typeface="B Nazanin"/>
              <a:cs typeface="B Nazanin"/>
            </a:endParaRPr>
          </a:p>
        </p:txBody>
      </p:sp>
      <p:sp>
        <p:nvSpPr>
          <p:cNvPr id="121" name="Content panel"/>
          <p:cNvSpPr/>
          <p:nvPr/>
        </p:nvSpPr>
        <p:spPr>
          <a:xfrm>
            <a:off x="700000" y="1850000"/>
            <a:ext cx="3350000" cy="38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122" name="Card accent"/>
          <p:cNvSpPr/>
          <p:nvPr/>
        </p:nvSpPr>
        <p:spPr>
          <a:xfrm>
            <a:off x="700000" y="1850000"/>
            <a:ext cx="90000" cy="38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123" name="Text 123"/>
          <p:cNvSpPr txBox="1"/>
          <p:nvPr/>
        </p:nvSpPr>
        <p:spPr>
          <a:xfrm>
            <a:off x="870000" y="2000000"/>
            <a:ext cx="30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قیمت و بازده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124" name="Text 124"/>
          <p:cNvSpPr txBox="1"/>
          <p:nvPr/>
        </p:nvSpPr>
        <p:spPr>
          <a:xfrm>
            <a:off x="870000" y="2500000"/>
            <a:ext cx="3010000" cy="30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وقفه‌های ۱، ۲، ۳، ۵، ۱۰ و ۲۰ روزه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مومنتوم و روند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افت سرمایه و شیب روند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131" name="Content panel"/>
          <p:cNvSpPr/>
          <p:nvPr/>
        </p:nvSpPr>
        <p:spPr>
          <a:xfrm>
            <a:off x="4250000" y="1850000"/>
            <a:ext cx="3350000" cy="38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132" name="Card accent"/>
          <p:cNvSpPr/>
          <p:nvPr/>
        </p:nvSpPr>
        <p:spPr>
          <a:xfrm>
            <a:off x="4250000" y="1850000"/>
            <a:ext cx="90000" cy="3850000"/>
          </a:xfrm>
          <a:prstGeom prst="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133" name="Text 133"/>
          <p:cNvSpPr txBox="1"/>
          <p:nvPr/>
        </p:nvSpPr>
        <p:spPr>
          <a:xfrm>
            <a:off x="4420000" y="2000000"/>
            <a:ext cx="30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آمار غلتان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134" name="Text 134"/>
          <p:cNvSpPr txBox="1"/>
          <p:nvPr/>
        </p:nvSpPr>
        <p:spPr>
          <a:xfrm>
            <a:off x="4420000" y="2500000"/>
            <a:ext cx="3010000" cy="30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پنجره‌های ۵، ۱۰، ۲۰، ۶۳ و ۱۲۶ روزه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نوسان و EWMA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Z-score، چولگی و کشیدگی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141" name="Content panel"/>
          <p:cNvSpPr/>
          <p:nvPr/>
        </p:nvSpPr>
        <p:spPr>
          <a:xfrm>
            <a:off x="7800000" y="1850000"/>
            <a:ext cx="3350000" cy="38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142" name="Card accent"/>
          <p:cNvSpPr/>
          <p:nvPr/>
        </p:nvSpPr>
        <p:spPr>
          <a:xfrm>
            <a:off x="7800000" y="1850000"/>
            <a:ext cx="90000" cy="3850000"/>
          </a:xfrm>
          <a:prstGeom prst="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143" name="Text 143"/>
          <p:cNvSpPr txBox="1"/>
          <p:nvPr/>
        </p:nvSpPr>
        <p:spPr>
          <a:xfrm>
            <a:off x="7970000" y="2000000"/>
            <a:ext cx="30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6EA8FE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6EA8FE"/>
                </a:solidFill>
                <a:latin typeface="B Nazanin"/>
                <a:ea typeface="B Nazanin"/>
                <a:cs typeface="B Nazanin"/>
              </a:rPr>
              <a:t>شاخص‌های تکنیکی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144" name="Text 144"/>
          <p:cNvSpPr txBox="1"/>
          <p:nvPr/>
        </p:nvSpPr>
        <p:spPr>
          <a:xfrm>
            <a:off x="7970000" y="2500000"/>
            <a:ext cx="3010000" cy="30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RSI، ATR و MACD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ویژگی‌های حجم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تقویم چرخه‌ای و آنتروپی علامت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150" name="Text 150"/>
          <p:cNvSpPr txBox="1"/>
          <p:nvPr/>
        </p:nvSpPr>
        <p:spPr>
          <a:xfrm>
            <a:off x="700000" y="5800000"/>
            <a:ext cx="108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8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مقادیر مفقود و مقیاس‌بندی فقط درون داده آموزش هر fold تعیین می‌شوند.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۶. نمای هرست و استخراج رژیم بازا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۶. نمای هرست و استخراج رژیم بازار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7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160" name="Content panel"/>
          <p:cNvSpPr/>
          <p:nvPr/>
        </p:nvSpPr>
        <p:spPr>
          <a:xfrm>
            <a:off x="600000" y="1250000"/>
            <a:ext cx="4200000" cy="46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161" name="Text 161"/>
          <p:cNvSpPr txBox="1"/>
          <p:nvPr/>
        </p:nvSpPr>
        <p:spPr>
          <a:xfrm>
            <a:off x="850000" y="1500000"/>
            <a:ext cx="37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DFA1 چندمقیاسی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162" name="Text 162"/>
          <p:cNvSpPr txBox="1"/>
          <p:nvPr/>
        </p:nvSpPr>
        <p:spPr>
          <a:xfrm>
            <a:off x="850000" y="2250000"/>
            <a:ext cx="3700000" cy="26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ورودی: تفاضل لگاریتم قیمت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پنجره‌ها: ۶۴ و ۱۲۸ مشاهده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مقیاس‌ها: توان‌های دو از ۴ تا حدود n/3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حداقل ۳ مقیاس قابل استفاده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برازش شیب خط لگاریتمی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170" name="Content panel"/>
          <p:cNvSpPr/>
          <p:nvPr/>
        </p:nvSpPr>
        <p:spPr>
          <a:xfrm>
            <a:off x="5200000" y="1250000"/>
            <a:ext cx="5950000" cy="46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171" name="Text 171"/>
          <p:cNvSpPr txBox="1"/>
          <p:nvPr/>
        </p:nvSpPr>
        <p:spPr>
          <a:xfrm>
            <a:off x="5500000" y="1500000"/>
            <a:ext cx="535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تفسیر و احتیاط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172" name="Text 172"/>
          <p:cNvSpPr txBox="1"/>
          <p:nvPr/>
        </p:nvSpPr>
        <p:spPr>
          <a:xfrm>
            <a:off x="5500000" y="2250000"/>
            <a:ext cx="5350000" cy="21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H&gt;0.5  → گرایش به تداوم</a:t>
            </a:r>
            <a:endParaRPr lang="fa-IR" sz="18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H&lt;0.5  → گرایش به بازگشت</a:t>
            </a:r>
            <a:endParaRPr lang="fa-IR" sz="18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 </a:t>
            </a:r>
            <a:endParaRPr lang="fa-IR" sz="18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ویژگی‌های رژیمی با shift(1) و صدک‌های گذشته‌نگر ساخته می‌شوند.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173" name="Pill"/>
          <p:cNvSpPr/>
          <p:nvPr/>
        </p:nvSpPr>
        <p:spPr>
          <a:xfrm>
            <a:off x="6200000" y="4850000"/>
            <a:ext cx="3750000" cy="520000"/>
          </a:xfrm>
          <a:prstGeom prst="round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174" name="Text 174"/>
          <p:cNvSpPr txBox="1"/>
          <p:nvPr/>
        </p:nvSpPr>
        <p:spPr>
          <a:xfrm>
            <a:off x="6200000" y="4850000"/>
            <a:ext cx="375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4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قانون مستقیم خریدوفروش نیست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۷. تفکیک هدف آماری از قرارداد اجرای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۷. تفکیک هدف آماری از قرارداد اجرایی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8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180" name="Content panel"/>
          <p:cNvSpPr/>
          <p:nvPr/>
        </p:nvSpPr>
        <p:spPr>
          <a:xfrm>
            <a:off x="600000" y="1250000"/>
            <a:ext cx="5100000" cy="45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181" name="Text 181"/>
          <p:cNvSpPr txBox="1"/>
          <p:nvPr/>
        </p:nvSpPr>
        <p:spPr>
          <a:xfrm>
            <a:off x="850000" y="1550000"/>
            <a:ext cx="46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6EA8FE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6EA8FE"/>
                </a:solidFill>
                <a:latin typeface="B Nazanin"/>
                <a:ea typeface="B Nazanin"/>
                <a:cs typeface="B Nazanin"/>
              </a:rPr>
              <a:t>هدف آماری آموزش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182" name="Text 182"/>
          <p:cNvSpPr txBox="1"/>
          <p:nvPr/>
        </p:nvSpPr>
        <p:spPr>
          <a:xfrm>
            <a:off x="850000" y="2350000"/>
            <a:ext cx="46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20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0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r_stat(t,H) = log(C[t+H]) − log(C[t])</a:t>
            </a:r>
            <a:endParaRPr lang="fa-IR" sz="2000">
              <a:latin typeface="B Nazanin"/>
              <a:ea typeface="B Nazanin"/>
              <a:cs typeface="B Nazanin"/>
            </a:endParaRPr>
          </a:p>
        </p:txBody>
      </p:sp>
      <p:sp>
        <p:nvSpPr>
          <p:cNvPr id="183" name="Text 183"/>
          <p:cNvSpPr txBox="1"/>
          <p:nvPr/>
        </p:nvSpPr>
        <p:spPr>
          <a:xfrm>
            <a:off x="850000" y="380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جهت بازده Close-to-Close برای سنجش الگوی پیش‌بینی.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190" name="Content panel"/>
          <p:cNvSpPr/>
          <p:nvPr/>
        </p:nvSpPr>
        <p:spPr>
          <a:xfrm>
            <a:off x="6250000" y="1250000"/>
            <a:ext cx="5100000" cy="45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191" name="Text 191"/>
          <p:cNvSpPr txBox="1"/>
          <p:nvPr/>
        </p:nvSpPr>
        <p:spPr>
          <a:xfrm>
            <a:off x="6500000" y="1550000"/>
            <a:ext cx="46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قرارداد اجرایی بازپخش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192" name="Text 192"/>
          <p:cNvSpPr txBox="1"/>
          <p:nvPr/>
        </p:nvSpPr>
        <p:spPr>
          <a:xfrm>
            <a:off x="6500000" y="2350000"/>
            <a:ext cx="46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20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0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r_exec(t,H) = log(O[t+1+H]) − log(O[t+1])</a:t>
            </a:r>
            <a:endParaRPr lang="fa-IR" sz="2000">
              <a:latin typeface="B Nazanin"/>
              <a:ea typeface="B Nazanin"/>
              <a:cs typeface="B Nazanin"/>
            </a:endParaRPr>
          </a:p>
        </p:txBody>
      </p:sp>
      <p:sp>
        <p:nvSpPr>
          <p:cNvPr id="193" name="Text 193"/>
          <p:cNvSpPr txBox="1"/>
          <p:nvPr/>
        </p:nvSpPr>
        <p:spPr>
          <a:xfrm>
            <a:off x="6500000" y="380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ورود در Open روز بعد و خروج در Open متناظر با افق.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200" name="Text 200"/>
          <p:cNvSpPr txBox="1"/>
          <p:nvPr/>
        </p:nvSpPr>
        <p:spPr>
          <a:xfrm>
            <a:off x="600000" y="5850000"/>
            <a:ext cx="111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8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هیچ بازده آینده‌ای برای حذف یا انتخاب ردیف‌های آموزش استفاده نمی‌شود.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۸. معماری روش پیشنهاد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۸. معماری روش پیشنهادی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9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210" name="Text 210"/>
          <p:cNvSpPr txBox="1"/>
          <p:nvPr/>
        </p:nvSpPr>
        <p:spPr>
          <a:xfrm>
            <a:off x="600000" y="120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300" b="1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300" b="1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از داده خام تا ارزیابی اقتصادی؛ هر مرحله قابل ثبت و بازبینی است.</a:t>
            </a:r>
            <a:endParaRPr lang="fa-IR" sz="1300">
              <a:latin typeface="B Nazanin"/>
              <a:ea typeface="B Nazanin"/>
              <a:cs typeface="B Nazanin"/>
            </a:endParaRPr>
          </a:p>
        </p:txBody>
      </p:sp>
      <p:sp>
        <p:nvSpPr>
          <p:cNvPr id="211" name="Content panel"/>
          <p:cNvSpPr/>
          <p:nvPr/>
        </p:nvSpPr>
        <p:spPr>
          <a:xfrm>
            <a:off x="500000" y="18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12" name="Text 212"/>
          <p:cNvSpPr txBox="1"/>
          <p:nvPr/>
        </p:nvSpPr>
        <p:spPr>
          <a:xfrm>
            <a:off x="550000" y="20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داده و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کنترل کیفیت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13" name="Arrow"/>
          <p:cNvSpPr/>
          <p:nvPr/>
        </p:nvSpPr>
        <p:spPr>
          <a:xfrm>
            <a:off x="2850000" y="2420000"/>
            <a:ext cx="500000" cy="170000"/>
          </a:xfrm>
          <a:prstGeom prst="rightArrow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14" name="Content panel"/>
          <p:cNvSpPr/>
          <p:nvPr/>
        </p:nvSpPr>
        <p:spPr>
          <a:xfrm>
            <a:off x="3450000" y="18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15" name="Text 215"/>
          <p:cNvSpPr txBox="1"/>
          <p:nvPr/>
        </p:nvSpPr>
        <p:spPr>
          <a:xfrm>
            <a:off x="3500000" y="20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ویژگی‌های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پایه + Hurst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16" name="Arrow"/>
          <p:cNvSpPr/>
          <p:nvPr/>
        </p:nvSpPr>
        <p:spPr>
          <a:xfrm>
            <a:off x="5800000" y="2420000"/>
            <a:ext cx="500000" cy="170000"/>
          </a:xfrm>
          <a:prstGeom prst="rightArrow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17" name="Content panel"/>
          <p:cNvSpPr/>
          <p:nvPr/>
        </p:nvSpPr>
        <p:spPr>
          <a:xfrm>
            <a:off x="6400000" y="18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6450000" y="20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برچسب‌های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چندافقی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19" name="Arrow"/>
          <p:cNvSpPr/>
          <p:nvPr/>
        </p:nvSpPr>
        <p:spPr>
          <a:xfrm>
            <a:off x="8750000" y="2420000"/>
            <a:ext cx="500000" cy="170000"/>
          </a:xfrm>
          <a:prstGeom prst="rightArrow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20" name="Content panel"/>
          <p:cNvSpPr/>
          <p:nvPr/>
        </p:nvSpPr>
        <p:spPr>
          <a:xfrm>
            <a:off x="9350000" y="18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21" name="Text 221"/>
          <p:cNvSpPr txBox="1"/>
          <p:nvPr/>
        </p:nvSpPr>
        <p:spPr>
          <a:xfrm>
            <a:off x="9400000" y="20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مدل پایه و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احتمال OOF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22" name="Arrow"/>
          <p:cNvSpPr/>
          <p:nvPr/>
        </p:nvSpPr>
        <p:spPr>
          <a:xfrm>
            <a:off x="1050000" y="4400000"/>
            <a:ext cx="500000" cy="170000"/>
          </a:xfrm>
          <a:prstGeom prst="rightArrow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23" name="Content panel"/>
          <p:cNvSpPr/>
          <p:nvPr/>
        </p:nvSpPr>
        <p:spPr>
          <a:xfrm>
            <a:off x="1700000" y="39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24" name="Text 224"/>
          <p:cNvSpPr txBox="1"/>
          <p:nvPr/>
        </p:nvSpPr>
        <p:spPr>
          <a:xfrm>
            <a:off x="1750000" y="41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فراطبقه‌بند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 کالیبراسیون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25" name="Arrow"/>
          <p:cNvSpPr/>
          <p:nvPr/>
        </p:nvSpPr>
        <p:spPr>
          <a:xfrm>
            <a:off x="4050000" y="4520000"/>
            <a:ext cx="500000" cy="170000"/>
          </a:xfrm>
          <a:prstGeom prst="rightArrow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26" name="Content panel"/>
          <p:cNvSpPr/>
          <p:nvPr/>
        </p:nvSpPr>
        <p:spPr>
          <a:xfrm>
            <a:off x="4650000" y="39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27" name="Text 227"/>
          <p:cNvSpPr txBox="1"/>
          <p:nvPr/>
        </p:nvSpPr>
        <p:spPr>
          <a:xfrm>
            <a:off x="4700000" y="41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Ablation و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آزمون آماری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28" name="Arrow"/>
          <p:cNvSpPr/>
          <p:nvPr/>
        </p:nvSpPr>
        <p:spPr>
          <a:xfrm>
            <a:off x="7000000" y="4520000"/>
            <a:ext cx="500000" cy="170000"/>
          </a:xfrm>
          <a:prstGeom prst="rightArrow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29" name="Content panel"/>
          <p:cNvSpPr/>
          <p:nvPr/>
        </p:nvSpPr>
        <p:spPr>
          <a:xfrm>
            <a:off x="7600000" y="3950000"/>
            <a:ext cx="2200000" cy="14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30" name="Text 230"/>
          <p:cNvSpPr txBox="1"/>
          <p:nvPr/>
        </p:nvSpPr>
        <p:spPr>
          <a:xfrm>
            <a:off x="7650000" y="4150000"/>
            <a:ext cx="21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بازپخش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Python / MT5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31" name="Text 231"/>
          <p:cNvSpPr txBox="1"/>
          <p:nvPr/>
        </p:nvSpPr>
        <p:spPr>
          <a:xfrm>
            <a:off x="600000" y="58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در عنوان «Gated»، دروازه به معنای قانون سخت H&gt;0.5 نیست؛ Hurst فقط زمینه تصمیم را غنی می‌کند.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۹. مدل‌های پایه و فراطبقه‌بن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۹. مدل‌های پایه و فراطبقه‌بند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10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240" name="Content panel"/>
          <p:cNvSpPr/>
          <p:nvPr/>
        </p:nvSpPr>
        <p:spPr>
          <a:xfrm>
            <a:off x="600000" y="1300000"/>
            <a:ext cx="4300000" cy="43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241" name="Text 241"/>
          <p:cNvSpPr txBox="1"/>
          <p:nvPr/>
        </p:nvSpPr>
        <p:spPr>
          <a:xfrm>
            <a:off x="850000" y="1550000"/>
            <a:ext cx="38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مدل‌های پایه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242" name="Text 242"/>
          <p:cNvSpPr txBox="1"/>
          <p:nvPr/>
        </p:nvSpPr>
        <p:spPr>
          <a:xfrm>
            <a:off x="850000" y="2200000"/>
            <a:ext cx="3800000" cy="2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Logistic Regression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Random Forest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Extra Trees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Histogram Gradient Boosting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 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Imputer + Missing Indicators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Scaling در مدل‌های لازم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50" name="Content panel"/>
          <p:cNvSpPr/>
          <p:nvPr/>
        </p:nvSpPr>
        <p:spPr>
          <a:xfrm>
            <a:off x="5400000" y="1300000"/>
            <a:ext cx="5750000" cy="43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51" name="Text 251"/>
          <p:cNvSpPr txBox="1"/>
          <p:nvPr/>
        </p:nvSpPr>
        <p:spPr>
          <a:xfrm>
            <a:off x="5700000" y="1550000"/>
            <a:ext cx="515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ترکیب احتمال‌ها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252" name="Text 252"/>
          <p:cNvSpPr txBox="1"/>
          <p:nvPr/>
        </p:nvSpPr>
        <p:spPr>
          <a:xfrm>
            <a:off x="5700000" y="2200000"/>
            <a:ext cx="5150000" cy="23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احتمال‌های خارج از نمونه (OOF)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+ ویژگی‌های زمینه‌ای Hurst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→ ورودی فراطبقه‌بند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 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کالیبراسیون احتمالات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 امکان عدم معامله در حاشیه اطمینان پایین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53" name="Pill"/>
          <p:cNvSpPr/>
          <p:nvPr/>
        </p:nvSpPr>
        <p:spPr>
          <a:xfrm>
            <a:off x="6950000" y="4800000"/>
            <a:ext cx="3250000" cy="52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254" name="Text 254"/>
          <p:cNvSpPr txBox="1"/>
          <p:nvPr/>
        </p:nvSpPr>
        <p:spPr>
          <a:xfrm>
            <a:off x="6950000" y="4800000"/>
            <a:ext cx="325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4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Fallback به مدل پایه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۰. کنترل نشت و اعتبارسنجی زمان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۱۰. کنترل نشت و اعتبارسنجی زمانی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11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260" name="Text 260"/>
          <p:cNvSpPr txBox="1"/>
          <p:nvPr/>
        </p:nvSpPr>
        <p:spPr>
          <a:xfrm>
            <a:off x="600000" y="12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8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اصل کلیدی: هر برچسب آموزشی باید پیش از شروع اعتبارسنجی تمام شده باشد.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261" name="Content panel"/>
          <p:cNvSpPr/>
          <p:nvPr/>
        </p:nvSpPr>
        <p:spPr>
          <a:xfrm>
            <a:off x="700000" y="1900000"/>
            <a:ext cx="10300000" cy="16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62" name="Rectangle"/>
          <p:cNvSpPr/>
          <p:nvPr/>
        </p:nvSpPr>
        <p:spPr>
          <a:xfrm>
            <a:off x="1050000" y="2350000"/>
            <a:ext cx="2600000" cy="550000"/>
          </a:xfrm>
          <a:prstGeom prst="round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263" name="Text 263"/>
          <p:cNvSpPr txBox="1"/>
          <p:nvPr/>
        </p:nvSpPr>
        <p:spPr>
          <a:xfrm>
            <a:off x="1050000" y="2350000"/>
            <a:ext cx="2600000" cy="5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9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9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Train</a:t>
            </a:r>
            <a:endParaRPr lang="fa-IR" sz="1900">
              <a:latin typeface="B Nazanin"/>
              <a:ea typeface="B Nazanin"/>
              <a:cs typeface="B Nazanin"/>
            </a:endParaRPr>
          </a:p>
        </p:txBody>
      </p:sp>
      <p:sp>
        <p:nvSpPr>
          <p:cNvPr id="264" name="Rectangle"/>
          <p:cNvSpPr/>
          <p:nvPr/>
        </p:nvSpPr>
        <p:spPr>
          <a:xfrm>
            <a:off x="4100000" y="2350000"/>
            <a:ext cx="2250000" cy="550000"/>
          </a:xfrm>
          <a:prstGeom prst="round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65" name="Text 265"/>
          <p:cNvSpPr txBox="1"/>
          <p:nvPr/>
        </p:nvSpPr>
        <p:spPr>
          <a:xfrm>
            <a:off x="4100000" y="2350000"/>
            <a:ext cx="2250000" cy="5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Purge / Gap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66" name="Rectangle"/>
          <p:cNvSpPr/>
          <p:nvPr/>
        </p:nvSpPr>
        <p:spPr>
          <a:xfrm>
            <a:off x="6800000" y="2350000"/>
            <a:ext cx="2600000" cy="55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267" name="Text 267"/>
          <p:cNvSpPr txBox="1"/>
          <p:nvPr/>
        </p:nvSpPr>
        <p:spPr>
          <a:xfrm>
            <a:off x="6800000" y="2350000"/>
            <a:ext cx="2600000" cy="5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8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Validation</a:t>
            </a:r>
            <a:endParaRPr lang="fa-IR" sz="1800">
              <a:latin typeface="B Nazanin"/>
              <a:ea typeface="B Nazanin"/>
              <a:cs typeface="B Nazanin"/>
            </a:endParaRPr>
          </a:p>
        </p:txBody>
      </p:sp>
      <p:sp>
        <p:nvSpPr>
          <p:cNvPr id="268" name="Rectangle"/>
          <p:cNvSpPr/>
          <p:nvPr/>
        </p:nvSpPr>
        <p:spPr>
          <a:xfrm>
            <a:off x="9700000" y="2350000"/>
            <a:ext cx="850000" cy="550000"/>
          </a:xfrm>
          <a:prstGeom prst="round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269" name="Text 269"/>
          <p:cNvSpPr txBox="1"/>
          <p:nvPr/>
        </p:nvSpPr>
        <p:spPr>
          <a:xfrm>
            <a:off x="9700000" y="2350000"/>
            <a:ext cx="850000" cy="5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22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2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۰</a:t>
            </a:r>
            <a:endParaRPr lang="fa-IR" sz="2200">
              <a:latin typeface="B Nazanin"/>
              <a:ea typeface="B Nazanin"/>
              <a:cs typeface="B Nazanin"/>
            </a:endParaRPr>
          </a:p>
        </p:txBody>
      </p:sp>
      <p:sp>
        <p:nvSpPr>
          <p:cNvPr id="270" name="Text 270"/>
          <p:cNvSpPr txBox="1"/>
          <p:nvPr/>
        </p:nvSpPr>
        <p:spPr>
          <a:xfrm>
            <a:off x="700000" y="3950000"/>
            <a:ext cx="10300000" cy="17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مرز مشترک ارزیابی تاریخی: ۳ ژوئیه ۲۰۲۳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پنج fold توسعه‌یابنده Walk-Forward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Purge مستقل برای کالیبراسیون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۲۸ تقسیم CPCV فقط در توسعه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صفر نمونه هم‌پوشان در ۶۰ انتخاب outer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71" name="Pill"/>
          <p:cNvSpPr/>
          <p:nvPr/>
        </p:nvSpPr>
        <p:spPr>
          <a:xfrm>
            <a:off x="3600000" y="5700000"/>
            <a:ext cx="4900000" cy="520000"/>
          </a:xfrm>
          <a:prstGeom prst="round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272" name="Text 272"/>
          <p:cNvSpPr txBox="1"/>
          <p:nvPr/>
        </p:nvSpPr>
        <p:spPr>
          <a:xfrm>
            <a:off x="3600000" y="5700000"/>
            <a:ext cx="49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5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5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تقسیم تصادفی ممنوع است</a:t>
            </a:r>
            <a:endParaRPr lang="fa-IR" sz="15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۱. طراحی آزمون حذف مؤلفه (Abl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۱۱. طراحی آزمون حذف مؤلفه (Ablation)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12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280" name="Text 280"/>
          <p:cNvSpPr txBox="1"/>
          <p:nvPr/>
        </p:nvSpPr>
        <p:spPr>
          <a:xfrm>
            <a:off x="600000" y="115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شرایط مقایسه ثابت نگه داشته شد تا تغییر عملکرد به افزودن Hurst نسبت داده شود.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81" name="Content panel"/>
          <p:cNvSpPr/>
          <p:nvPr/>
        </p:nvSpPr>
        <p:spPr>
          <a:xfrm>
            <a:off x="800000" y="1750000"/>
            <a:ext cx="10400000" cy="29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282" name="Rectangle"/>
          <p:cNvSpPr/>
          <p:nvPr/>
        </p:nvSpPr>
        <p:spPr>
          <a:xfrm>
            <a:off x="800000" y="1750000"/>
            <a:ext cx="3300000" cy="6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83" name="Text 283"/>
          <p:cNvSpPr txBox="1"/>
          <p:nvPr/>
        </p:nvSpPr>
        <p:spPr>
          <a:xfrm>
            <a:off x="820000" y="1810000"/>
            <a:ext cx="326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بازوی آزمایش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284" name="Rectangle"/>
          <p:cNvSpPr/>
          <p:nvPr/>
        </p:nvSpPr>
        <p:spPr>
          <a:xfrm>
            <a:off x="4100000" y="1750000"/>
            <a:ext cx="1600000" cy="6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85" name="Text 285"/>
          <p:cNvSpPr txBox="1"/>
          <p:nvPr/>
        </p:nvSpPr>
        <p:spPr>
          <a:xfrm>
            <a:off x="4120000" y="1810000"/>
            <a:ext cx="156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۱ روز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286" name="Rectangle"/>
          <p:cNvSpPr/>
          <p:nvPr/>
        </p:nvSpPr>
        <p:spPr>
          <a:xfrm>
            <a:off x="5750000" y="1750000"/>
            <a:ext cx="1600000" cy="6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87" name="Text 287"/>
          <p:cNvSpPr txBox="1"/>
          <p:nvPr/>
        </p:nvSpPr>
        <p:spPr>
          <a:xfrm>
            <a:off x="5770000" y="1810000"/>
            <a:ext cx="156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۵ روز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288" name="Rectangle"/>
          <p:cNvSpPr/>
          <p:nvPr/>
        </p:nvSpPr>
        <p:spPr>
          <a:xfrm>
            <a:off x="7400000" y="1750000"/>
            <a:ext cx="1600000" cy="6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89" name="Text 289"/>
          <p:cNvSpPr txBox="1"/>
          <p:nvPr/>
        </p:nvSpPr>
        <p:spPr>
          <a:xfrm>
            <a:off x="7420000" y="1810000"/>
            <a:ext cx="156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۱۰ روز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290" name="Rectangle"/>
          <p:cNvSpPr/>
          <p:nvPr/>
        </p:nvSpPr>
        <p:spPr>
          <a:xfrm>
            <a:off x="9050000" y="1750000"/>
            <a:ext cx="1600000" cy="6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291" name="Text 291"/>
          <p:cNvSpPr txBox="1"/>
          <p:nvPr/>
        </p:nvSpPr>
        <p:spPr>
          <a:xfrm>
            <a:off x="9070000" y="1810000"/>
            <a:ext cx="156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۲۰ روز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292" name="Rectangle"/>
          <p:cNvSpPr/>
          <p:nvPr/>
        </p:nvSpPr>
        <p:spPr>
          <a:xfrm>
            <a:off x="800000" y="2400000"/>
            <a:ext cx="3300000" cy="7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293" name="Text 293"/>
          <p:cNvSpPr txBox="1"/>
          <p:nvPr/>
        </p:nvSpPr>
        <p:spPr>
          <a:xfrm>
            <a:off x="820000" y="2460000"/>
            <a:ext cx="326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بدون Hurst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94" name="Rectangle"/>
          <p:cNvSpPr/>
          <p:nvPr/>
        </p:nvSpPr>
        <p:spPr>
          <a:xfrm>
            <a:off x="4100000" y="2400000"/>
            <a:ext cx="1600000" cy="700000"/>
          </a:xfrm>
          <a:prstGeom prst="rect">
            <a:avLst/>
          </a:prstGeom>
          <a:solidFill>
            <a:srgbClr val="62D394"/>
          </a:solidFill>
          <a:ln>
            <a:noFill/>
          </a:ln>
        </p:spPr>
      </p:sp>
      <p:sp>
        <p:nvSpPr>
          <p:cNvPr id="295" name="Text 295"/>
          <p:cNvSpPr txBox="1"/>
          <p:nvPr/>
        </p:nvSpPr>
        <p:spPr>
          <a:xfrm>
            <a:off x="4100000" y="24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۵۲٫۳۱٪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96" name="Rectangle"/>
          <p:cNvSpPr/>
          <p:nvPr/>
        </p:nvSpPr>
        <p:spPr>
          <a:xfrm>
            <a:off x="5750000" y="24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297" name="Text 297"/>
          <p:cNvSpPr txBox="1"/>
          <p:nvPr/>
        </p:nvSpPr>
        <p:spPr>
          <a:xfrm>
            <a:off x="5750000" y="24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۴۹٫۷۲٪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298" name="Rectangle"/>
          <p:cNvSpPr/>
          <p:nvPr/>
        </p:nvSpPr>
        <p:spPr>
          <a:xfrm>
            <a:off x="7400000" y="24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299" name="Text 299"/>
          <p:cNvSpPr txBox="1"/>
          <p:nvPr/>
        </p:nvSpPr>
        <p:spPr>
          <a:xfrm>
            <a:off x="7400000" y="24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۵۰٫۷۴٪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00" name="Rectangle"/>
          <p:cNvSpPr/>
          <p:nvPr/>
        </p:nvSpPr>
        <p:spPr>
          <a:xfrm>
            <a:off x="9050000" y="24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01" name="Text 301"/>
          <p:cNvSpPr txBox="1"/>
          <p:nvPr/>
        </p:nvSpPr>
        <p:spPr>
          <a:xfrm>
            <a:off x="9050000" y="24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۴۹٫۹۳٪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02" name="Rectangle"/>
          <p:cNvSpPr/>
          <p:nvPr/>
        </p:nvSpPr>
        <p:spPr>
          <a:xfrm>
            <a:off x="800000" y="3100000"/>
            <a:ext cx="3300000" cy="7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303" name="Text 303"/>
          <p:cNvSpPr txBox="1"/>
          <p:nvPr/>
        </p:nvSpPr>
        <p:spPr>
          <a:xfrm>
            <a:off x="820000" y="3160000"/>
            <a:ext cx="326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DFA1 جاری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04" name="Rectangle"/>
          <p:cNvSpPr/>
          <p:nvPr/>
        </p:nvSpPr>
        <p:spPr>
          <a:xfrm>
            <a:off x="4100000" y="31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05" name="Text 305"/>
          <p:cNvSpPr txBox="1"/>
          <p:nvPr/>
        </p:nvSpPr>
        <p:spPr>
          <a:xfrm>
            <a:off x="4100000" y="31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۵۰٫۸۲٪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06" name="Rectangle"/>
          <p:cNvSpPr/>
          <p:nvPr/>
        </p:nvSpPr>
        <p:spPr>
          <a:xfrm>
            <a:off x="5750000" y="31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07" name="Text 307"/>
          <p:cNvSpPr txBox="1"/>
          <p:nvPr/>
        </p:nvSpPr>
        <p:spPr>
          <a:xfrm>
            <a:off x="5750000" y="31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۴۸٫۷۸٪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08" name="Rectangle"/>
          <p:cNvSpPr/>
          <p:nvPr/>
        </p:nvSpPr>
        <p:spPr>
          <a:xfrm>
            <a:off x="7400000" y="31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09" name="Text 309"/>
          <p:cNvSpPr txBox="1"/>
          <p:nvPr/>
        </p:nvSpPr>
        <p:spPr>
          <a:xfrm>
            <a:off x="7400000" y="31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۴۷٫۵۲٪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10" name="Rectangle"/>
          <p:cNvSpPr/>
          <p:nvPr/>
        </p:nvSpPr>
        <p:spPr>
          <a:xfrm>
            <a:off x="9050000" y="31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11" name="Text 311"/>
          <p:cNvSpPr txBox="1"/>
          <p:nvPr/>
        </p:nvSpPr>
        <p:spPr>
          <a:xfrm>
            <a:off x="9050000" y="31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۴۷٫۳۱٪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12" name="Rectangle"/>
          <p:cNvSpPr/>
          <p:nvPr/>
        </p:nvSpPr>
        <p:spPr>
          <a:xfrm>
            <a:off x="800000" y="3800000"/>
            <a:ext cx="3300000" cy="70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313" name="Text 313"/>
          <p:cNvSpPr txBox="1"/>
          <p:nvPr/>
        </p:nvSpPr>
        <p:spPr>
          <a:xfrm>
            <a:off x="820000" y="3860000"/>
            <a:ext cx="326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رژیم مقاوم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14" name="Rectangle"/>
          <p:cNvSpPr/>
          <p:nvPr/>
        </p:nvSpPr>
        <p:spPr>
          <a:xfrm>
            <a:off x="4100000" y="38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15" name="Text 315"/>
          <p:cNvSpPr txBox="1"/>
          <p:nvPr/>
        </p:nvSpPr>
        <p:spPr>
          <a:xfrm>
            <a:off x="4100000" y="38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۴۹٫۴۹٪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16" name="Rectangle"/>
          <p:cNvSpPr/>
          <p:nvPr/>
        </p:nvSpPr>
        <p:spPr>
          <a:xfrm>
            <a:off x="5750000" y="3800000"/>
            <a:ext cx="1600000" cy="700000"/>
          </a:xfrm>
          <a:prstGeom prst="rect">
            <a:avLst/>
          </a:prstGeom>
          <a:solidFill>
            <a:srgbClr val="62D394"/>
          </a:solidFill>
          <a:ln>
            <a:noFill/>
          </a:ln>
        </p:spPr>
      </p:sp>
      <p:sp>
        <p:nvSpPr>
          <p:cNvPr id="317" name="Text 317"/>
          <p:cNvSpPr txBox="1"/>
          <p:nvPr/>
        </p:nvSpPr>
        <p:spPr>
          <a:xfrm>
            <a:off x="5750000" y="38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۵۱٫۰۲٪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18" name="Rectangle"/>
          <p:cNvSpPr/>
          <p:nvPr/>
        </p:nvSpPr>
        <p:spPr>
          <a:xfrm>
            <a:off x="7400000" y="38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19" name="Text 319"/>
          <p:cNvSpPr txBox="1"/>
          <p:nvPr/>
        </p:nvSpPr>
        <p:spPr>
          <a:xfrm>
            <a:off x="7400000" y="38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۴۷٫۶۴٪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20" name="Rectangle"/>
          <p:cNvSpPr/>
          <p:nvPr/>
        </p:nvSpPr>
        <p:spPr>
          <a:xfrm>
            <a:off x="9050000" y="3800000"/>
            <a:ext cx="1600000" cy="70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21" name="Text 321"/>
          <p:cNvSpPr txBox="1"/>
          <p:nvPr/>
        </p:nvSpPr>
        <p:spPr>
          <a:xfrm>
            <a:off x="9050000" y="386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۵۰٫۷۸٪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30" name="Text 330"/>
          <p:cNvSpPr txBox="1"/>
          <p:nvPr/>
        </p:nvSpPr>
        <p:spPr>
          <a:xfrm>
            <a:off x="800000" y="5000000"/>
            <a:ext cx="104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6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۳ بازو × ۴ افق = ۱۲ آزمایش اصلی | معیار پذیرش: دقت متوازن ۶۰٪ | اصلاح چندآزمونی Holm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۲. نتایج آماری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۱۲. نتایج آماری اصلی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13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340" name="Content panel"/>
          <p:cNvSpPr/>
          <p:nvPr/>
        </p:nvSpPr>
        <p:spPr>
          <a:xfrm>
            <a:off x="600000" y="1250000"/>
            <a:ext cx="5200000" cy="460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341" name="Text 341"/>
          <p:cNvSpPr txBox="1"/>
          <p:nvPr/>
        </p:nvSpPr>
        <p:spPr>
          <a:xfrm>
            <a:off x="850000" y="1500000"/>
            <a:ext cx="47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نتیجه مقایسه اصلی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342" name="Text 342"/>
          <p:cNvSpPr txBox="1"/>
          <p:nvPr/>
        </p:nvSpPr>
        <p:spPr>
          <a:xfrm>
            <a:off x="850000" y="2250000"/>
            <a:ext cx="4700000" cy="24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اختلاف DFA1 − بدون Hurst در هر چهار افق منفی بود.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بازه‌های اطمینان ۹۵٪ اختلاف، صفر را پوشش دادند.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p تعدیل‌شده Holm در هر چهار افق حدود ۰٫۴۵ بود.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هر ۱۲ پیکربندی از دروازه ارتقا عبور نکردند.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50" name="Content panel"/>
          <p:cNvSpPr/>
          <p:nvPr/>
        </p:nvSpPr>
        <p:spPr>
          <a:xfrm>
            <a:off x="6200000" y="1250000"/>
            <a:ext cx="4950000" cy="46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351" name="Text 351"/>
          <p:cNvSpPr txBox="1"/>
          <p:nvPr/>
        </p:nvSpPr>
        <p:spPr>
          <a:xfrm>
            <a:off x="6500000" y="1500000"/>
            <a:ext cx="435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دقت متوازن (%)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352" name="Text 352"/>
          <p:cNvSpPr txBox="1"/>
          <p:nvPr/>
        </p:nvSpPr>
        <p:spPr>
          <a:xfrm>
            <a:off x="6550000" y="2250000"/>
            <a:ext cx="85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H1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353" name="Rectangle"/>
          <p:cNvSpPr/>
          <p:nvPr/>
        </p:nvSpPr>
        <p:spPr>
          <a:xfrm>
            <a:off x="7450000" y="2260000"/>
            <a:ext cx="1850000" cy="250000"/>
          </a:xfrm>
          <a:prstGeom prst="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354" name="Rectangle"/>
          <p:cNvSpPr/>
          <p:nvPr/>
        </p:nvSpPr>
        <p:spPr>
          <a:xfrm>
            <a:off x="7450000" y="2610000"/>
            <a:ext cx="1800000" cy="25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55" name="Text 355"/>
          <p:cNvSpPr txBox="1"/>
          <p:nvPr/>
        </p:nvSpPr>
        <p:spPr>
          <a:xfrm>
            <a:off x="9300000" y="220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۵۲٫۳۱ / ۵۰٫۸۲</a:t>
            </a:r>
            <a:endParaRPr lang="fa-IR" sz="1200">
              <a:latin typeface="B Nazanin"/>
              <a:ea typeface="B Nazanin"/>
              <a:cs typeface="B Nazanin"/>
            </a:endParaRPr>
          </a:p>
        </p:txBody>
      </p:sp>
      <p:sp>
        <p:nvSpPr>
          <p:cNvPr id="356" name="Text 356"/>
          <p:cNvSpPr txBox="1"/>
          <p:nvPr/>
        </p:nvSpPr>
        <p:spPr>
          <a:xfrm>
            <a:off x="6550000" y="3050000"/>
            <a:ext cx="85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H5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357" name="Rectangle"/>
          <p:cNvSpPr/>
          <p:nvPr/>
        </p:nvSpPr>
        <p:spPr>
          <a:xfrm>
            <a:off x="7450000" y="3060000"/>
            <a:ext cx="1750000" cy="250000"/>
          </a:xfrm>
          <a:prstGeom prst="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358" name="Rectangle"/>
          <p:cNvSpPr/>
          <p:nvPr/>
        </p:nvSpPr>
        <p:spPr>
          <a:xfrm>
            <a:off x="7450000" y="3410000"/>
            <a:ext cx="1700000" cy="25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59" name="Text 359"/>
          <p:cNvSpPr txBox="1"/>
          <p:nvPr/>
        </p:nvSpPr>
        <p:spPr>
          <a:xfrm>
            <a:off x="9300000" y="300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۴۹٫۷۲ / ۴۸٫۷۸</a:t>
            </a:r>
            <a:endParaRPr lang="fa-IR" sz="1200">
              <a:latin typeface="B Nazanin"/>
              <a:ea typeface="B Nazanin"/>
              <a:cs typeface="B Nazanin"/>
            </a:endParaRPr>
          </a:p>
        </p:txBody>
      </p:sp>
      <p:sp>
        <p:nvSpPr>
          <p:cNvPr id="360" name="Text 360"/>
          <p:cNvSpPr txBox="1"/>
          <p:nvPr/>
        </p:nvSpPr>
        <p:spPr>
          <a:xfrm>
            <a:off x="6550000" y="3850000"/>
            <a:ext cx="85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H10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361" name="Rectangle"/>
          <p:cNvSpPr/>
          <p:nvPr/>
        </p:nvSpPr>
        <p:spPr>
          <a:xfrm>
            <a:off x="7450000" y="3860000"/>
            <a:ext cx="1770000" cy="250000"/>
          </a:xfrm>
          <a:prstGeom prst="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362" name="Rectangle"/>
          <p:cNvSpPr/>
          <p:nvPr/>
        </p:nvSpPr>
        <p:spPr>
          <a:xfrm>
            <a:off x="7450000" y="4210000"/>
            <a:ext cx="1650000" cy="25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63" name="Text 363"/>
          <p:cNvSpPr txBox="1"/>
          <p:nvPr/>
        </p:nvSpPr>
        <p:spPr>
          <a:xfrm>
            <a:off x="9300000" y="380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۵۰٫۷۴ / ۴۷٫۵۲</a:t>
            </a:r>
            <a:endParaRPr lang="fa-IR" sz="1200">
              <a:latin typeface="B Nazanin"/>
              <a:ea typeface="B Nazanin"/>
              <a:cs typeface="B Nazanin"/>
            </a:endParaRPr>
          </a:p>
        </p:txBody>
      </p:sp>
      <p:sp>
        <p:nvSpPr>
          <p:cNvPr id="364" name="Text 364"/>
          <p:cNvSpPr txBox="1"/>
          <p:nvPr/>
        </p:nvSpPr>
        <p:spPr>
          <a:xfrm>
            <a:off x="6550000" y="4650000"/>
            <a:ext cx="85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1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H20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365" name="Rectangle"/>
          <p:cNvSpPr/>
          <p:nvPr/>
        </p:nvSpPr>
        <p:spPr>
          <a:xfrm>
            <a:off x="7450000" y="4660000"/>
            <a:ext cx="1740000" cy="250000"/>
          </a:xfrm>
          <a:prstGeom prst="rect">
            <a:avLst/>
          </a:prstGeom>
          <a:solidFill>
            <a:srgbClr val="6EA8FE"/>
          </a:solidFill>
          <a:ln>
            <a:noFill/>
          </a:ln>
        </p:spPr>
      </p:sp>
      <p:sp>
        <p:nvSpPr>
          <p:cNvPr id="366" name="Rectangle"/>
          <p:cNvSpPr/>
          <p:nvPr/>
        </p:nvSpPr>
        <p:spPr>
          <a:xfrm>
            <a:off x="7450000" y="5010000"/>
            <a:ext cx="1600000" cy="25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367" name="Text 367"/>
          <p:cNvSpPr txBox="1"/>
          <p:nvPr/>
        </p:nvSpPr>
        <p:spPr>
          <a:xfrm>
            <a:off x="9300000" y="460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2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۴۹٫۹۳ / ۴۷٫۳۱</a:t>
            </a:r>
            <a:endParaRPr lang="fa-IR" sz="1200">
              <a:latin typeface="B Nazanin"/>
              <a:ea typeface="B Nazanin"/>
              <a:cs typeface="B Nazanin"/>
            </a:endParaRPr>
          </a:p>
        </p:txBody>
      </p:sp>
      <p:sp>
        <p:nvSpPr>
          <p:cNvPr id="368" name="Text 368"/>
          <p:cNvSpPr txBox="1"/>
          <p:nvPr/>
        </p:nvSpPr>
        <p:spPr>
          <a:xfrm>
            <a:off x="6200000" y="5600000"/>
            <a:ext cx="495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2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2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آبی: بدون Hurst | قرمز: DFA1 جاری</a:t>
            </a:r>
            <a:endParaRPr lang="fa-IR" sz="12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۳. ارزیابی اقتصادی و بازپخش MT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۱۳. ارزیابی اقتصادی و بازپخش MT5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14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380" name="Text 380"/>
          <p:cNvSpPr txBox="1"/>
          <p:nvPr/>
        </p:nvSpPr>
        <p:spPr>
          <a:xfrm>
            <a:off x="600000" y="120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بازپخش اقتصادی برای سنجش قابلیت اجراست؛ نتیجه آن با دقت آماری یا سودآوری زنده یکی نیست.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81" name="Content panel"/>
          <p:cNvSpPr/>
          <p:nvPr/>
        </p:nvSpPr>
        <p:spPr>
          <a:xfrm>
            <a:off x="700000" y="1850000"/>
            <a:ext cx="2450000" cy="24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382" name="Card accent"/>
          <p:cNvSpPr/>
          <p:nvPr/>
        </p:nvSpPr>
        <p:spPr>
          <a:xfrm>
            <a:off x="700000" y="1850000"/>
            <a:ext cx="90000" cy="2450000"/>
          </a:xfrm>
          <a:prstGeom prst="rect">
            <a:avLst/>
          </a:prstGeom>
          <a:solidFill>
            <a:srgbClr val="62D394"/>
          </a:solidFill>
          <a:ln>
            <a:noFill/>
          </a:ln>
        </p:spPr>
      </p:sp>
      <p:sp>
        <p:nvSpPr>
          <p:cNvPr id="383" name="Text 383"/>
          <p:cNvSpPr txBox="1"/>
          <p:nvPr/>
        </p:nvSpPr>
        <p:spPr>
          <a:xfrm>
            <a:off x="870000" y="2000000"/>
            <a:ext cx="21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62D394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62D394"/>
                </a:solidFill>
                <a:latin typeface="B Nazanin"/>
                <a:ea typeface="B Nazanin"/>
                <a:cs typeface="B Nazanin"/>
              </a:rPr>
              <a:t>H=۵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84" name="Text 384"/>
          <p:cNvSpPr txBox="1"/>
          <p:nvPr/>
        </p:nvSpPr>
        <p:spPr>
          <a:xfrm>
            <a:off x="870000" y="2500000"/>
            <a:ext cx="2110000" cy="1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سود اسمی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+۳۵٫۷۳ دلار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391" name="Content panel"/>
          <p:cNvSpPr/>
          <p:nvPr/>
        </p:nvSpPr>
        <p:spPr>
          <a:xfrm>
            <a:off x="3300000" y="1850000"/>
            <a:ext cx="2450000" cy="24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392" name="Card accent"/>
          <p:cNvSpPr/>
          <p:nvPr/>
        </p:nvSpPr>
        <p:spPr>
          <a:xfrm>
            <a:off x="3300000" y="1850000"/>
            <a:ext cx="90000" cy="24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393" name="Text 393"/>
          <p:cNvSpPr txBox="1"/>
          <p:nvPr/>
        </p:nvSpPr>
        <p:spPr>
          <a:xfrm>
            <a:off x="3470000" y="2000000"/>
            <a:ext cx="21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Profit Factor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394" name="Text 394"/>
          <p:cNvSpPr txBox="1"/>
          <p:nvPr/>
        </p:nvSpPr>
        <p:spPr>
          <a:xfrm>
            <a:off x="3470000" y="2500000"/>
            <a:ext cx="2110000" cy="1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۱٫۰۱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شاهد ضعیف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401" name="Content panel"/>
          <p:cNvSpPr/>
          <p:nvPr/>
        </p:nvSpPr>
        <p:spPr>
          <a:xfrm>
            <a:off x="5900000" y="1850000"/>
            <a:ext cx="2450000" cy="24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402" name="Card accent"/>
          <p:cNvSpPr/>
          <p:nvPr/>
        </p:nvSpPr>
        <p:spPr>
          <a:xfrm>
            <a:off x="5900000" y="1850000"/>
            <a:ext cx="90000" cy="2450000"/>
          </a:xfrm>
          <a:prstGeom prst="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403" name="Text 403"/>
          <p:cNvSpPr txBox="1"/>
          <p:nvPr/>
        </p:nvSpPr>
        <p:spPr>
          <a:xfrm>
            <a:off x="6070000" y="2000000"/>
            <a:ext cx="21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Sharpe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404" name="Text 404"/>
          <p:cNvSpPr txBox="1"/>
          <p:nvPr/>
        </p:nvSpPr>
        <p:spPr>
          <a:xfrm>
            <a:off x="6070000" y="2500000"/>
            <a:ext cx="2110000" cy="1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۰٫۰۱</a:t>
            </a:r>
            <a:endParaRPr lang="fa-IR" sz="14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تقریباً صفر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411" name="Content panel"/>
          <p:cNvSpPr/>
          <p:nvPr/>
        </p:nvSpPr>
        <p:spPr>
          <a:xfrm>
            <a:off x="8500000" y="1850000"/>
            <a:ext cx="2450000" cy="24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412" name="Card accent"/>
          <p:cNvSpPr/>
          <p:nvPr/>
        </p:nvSpPr>
        <p:spPr>
          <a:xfrm>
            <a:off x="8500000" y="1850000"/>
            <a:ext cx="90000" cy="2450000"/>
          </a:xfrm>
          <a:prstGeom prst="rect">
            <a:avLst/>
          </a:prstGeom>
          <a:solidFill>
            <a:srgbClr val="D96565"/>
          </a:solidFill>
          <a:ln>
            <a:noFill/>
          </a:ln>
        </p:spPr>
      </p:sp>
      <p:sp>
        <p:nvSpPr>
          <p:cNvPr id="413" name="Text 413"/>
          <p:cNvSpPr txBox="1"/>
          <p:nvPr/>
        </p:nvSpPr>
        <p:spPr>
          <a:xfrm>
            <a:off x="8670000" y="2000000"/>
            <a:ext cx="211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700" b="1">
                <a:solidFill>
                  <a:srgbClr val="D96565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1">
                <a:solidFill>
                  <a:srgbClr val="D96565"/>
                </a:solidFill>
                <a:latin typeface="B Nazanin"/>
                <a:ea typeface="B Nazanin"/>
                <a:cs typeface="B Nazanin"/>
              </a:rPr>
              <a:t>افت سرمایه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414" name="Text 414"/>
          <p:cNvSpPr txBox="1"/>
          <p:nvPr/>
        </p:nvSpPr>
        <p:spPr>
          <a:xfrm>
            <a:off x="8670000" y="2500000"/>
            <a:ext cx="2110000" cy="1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4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حدود ۱۷٫۷۴٪</a:t>
            </a:r>
            <a:endParaRPr lang="fa-IR" sz="1400">
              <a:latin typeface="B Nazanin"/>
              <a:ea typeface="B Nazanin"/>
              <a:cs typeface="B Nazanin"/>
            </a:endParaRPr>
          </a:p>
        </p:txBody>
      </p:sp>
      <p:sp>
        <p:nvSpPr>
          <p:cNvPr id="421" name="Content panel"/>
          <p:cNvSpPr/>
          <p:nvPr/>
        </p:nvSpPr>
        <p:spPr>
          <a:xfrm>
            <a:off x="700000" y="4800000"/>
            <a:ext cx="10300000" cy="10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422" name="Text 422"/>
          <p:cNvSpPr txBox="1"/>
          <p:nvPr/>
        </p:nvSpPr>
        <p:spPr>
          <a:xfrm>
            <a:off x="950000" y="497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5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5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ورود Open روز بعد | زمان‌بندی غیرهم‌پوشان | هزینه رفت‌وبرگشت ۵ واحد پایه | حجم ثابت ۰٫۰۱ لات</a:t>
            </a:r>
            <a:endParaRPr lang="fa-IR" sz="15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5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5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افق‌های ۱۰ و ۲۰ روزه زیان‌ده بودند؛ هیچ مدل برای استقرار تأیید نشد.</a:t>
            </a:r>
            <a:endParaRPr lang="fa-IR" sz="15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۴. محدودیت‌ها و مرز تفسی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۱۴. محدودیت‌ها و مرز تفسیر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15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430" name="Content panel"/>
          <p:cNvSpPr/>
          <p:nvPr/>
        </p:nvSpPr>
        <p:spPr>
          <a:xfrm>
            <a:off x="600000" y="1250000"/>
            <a:ext cx="5200000" cy="4650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</p:sp>
      <p:sp>
        <p:nvSpPr>
          <p:cNvPr id="431" name="Text 431"/>
          <p:cNvSpPr txBox="1"/>
          <p:nvPr/>
        </p:nvSpPr>
        <p:spPr>
          <a:xfrm>
            <a:off x="850000" y="1500000"/>
            <a:ext cx="47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محدودیت داده و بازار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432" name="Text 432"/>
          <p:cNvSpPr txBox="1"/>
          <p:nvPr/>
        </p:nvSpPr>
        <p:spPr>
          <a:xfrm>
            <a:off x="850000" y="2200000"/>
            <a:ext cx="4700000" cy="28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یک نماد، یک feed و تناوب روزانه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Tick Volume به‌جای حجم متمرکز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حساسیت به منطقه زمانی و مرز کندل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حساسیت کامل به برآوردگرهای جایگزین هنوز انجام نشده است.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  <p:sp>
        <p:nvSpPr>
          <p:cNvPr id="440" name="Content panel"/>
          <p:cNvSpPr/>
          <p:nvPr/>
        </p:nvSpPr>
        <p:spPr>
          <a:xfrm>
            <a:off x="6200000" y="1250000"/>
            <a:ext cx="4950000" cy="465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441" name="Text 441"/>
          <p:cNvSpPr txBox="1"/>
          <p:nvPr/>
        </p:nvSpPr>
        <p:spPr>
          <a:xfrm>
            <a:off x="6500000" y="1500000"/>
            <a:ext cx="435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1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محدودیت ارزیابی و اجرا</a:t>
            </a:r>
            <a:endParaRPr lang="fa-IR" sz="2100">
              <a:latin typeface="B Nazanin"/>
              <a:ea typeface="B Nazanin"/>
              <a:cs typeface="B Nazanin"/>
            </a:endParaRPr>
          </a:p>
        </p:txBody>
      </p:sp>
      <p:sp>
        <p:nvSpPr>
          <p:cNvPr id="442" name="Text 442"/>
          <p:cNvSpPr txBox="1"/>
          <p:nvPr/>
        </p:nvSpPr>
        <p:spPr>
          <a:xfrm>
            <a:off x="6500000" y="2200000"/>
            <a:ext cx="4350000" cy="28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t"/>
          <a:lstStyle/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دوره ۲۰۲۳–۲۰۲۶ قبلاً مشاهده شده است.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MT5 فقط سیگنال فریز‌شده Python را replay می‌کند.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inference بومی MQL5 و real-tick انجام نشده است.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r" rtl="1" marL="0" indent="0">
              <a:def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• نبود شواهد در این نمونه، نبود سیگنال در همه بازارها را اثبات نمی‌کند.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۱۵. جمع‌بندی و پاسخ به پرسش پژوه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lide title"/>
          <p:cNvSpPr txBox="1"/>
          <p:nvPr/>
        </p:nvSpPr>
        <p:spPr>
          <a:xfrm>
            <a:off x="600000" y="280000"/>
            <a:ext cx="1080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27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۱۵. جمع‌بندی و پاسخ به پرسش پژوهش</a:t>
            </a:r>
            <a:endParaRPr lang="fa-IR" sz="2700">
              <a:latin typeface="B Nazanin"/>
              <a:ea typeface="B Nazanin"/>
              <a:cs typeface="B Nazanin"/>
            </a:endParaRPr>
          </a:p>
        </p:txBody>
      </p:sp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16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450" name="Content panel"/>
          <p:cNvSpPr/>
          <p:nvPr/>
        </p:nvSpPr>
        <p:spPr>
          <a:xfrm>
            <a:off x="700000" y="1350000"/>
            <a:ext cx="10300000" cy="3900000"/>
          </a:xfrm>
          <a:prstGeom prst="roundRect">
            <a:avLst/>
          </a:prstGeom>
          <a:solidFill>
            <a:srgbClr val="1B2A49"/>
          </a:solidFill>
          <a:ln>
            <a:noFill/>
          </a:ln>
        </p:spPr>
      </p:sp>
      <p:sp>
        <p:nvSpPr>
          <p:cNvPr id="451" name="Text 451"/>
          <p:cNvSpPr txBox="1"/>
          <p:nvPr/>
        </p:nvSpPr>
        <p:spPr>
          <a:xfrm>
            <a:off x="1000000" y="170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2400" b="1">
                <a:solidFill>
                  <a:srgbClr val="E0B24A"/>
                </a:solidFill>
                <a:latin typeface="B Nazanin"/>
                <a:ea typeface="B Nazanin"/>
                <a:cs typeface="B Nazanin"/>
              </a:defRPr>
            </a:pPr>
            <a:r>
              <a:rPr lang="fa-IR" sz="2400" b="1">
                <a:solidFill>
                  <a:srgbClr val="E0B24A"/>
                </a:solidFill>
                <a:latin typeface="B Nazanin"/>
                <a:ea typeface="B Nazanin"/>
                <a:cs typeface="B Nazanin"/>
              </a:rPr>
              <a:t>پاسخ کوتاه: در این داده و این پروتکل، ارزش افزوده پایدار Hurst تأیید نشد.</a:t>
            </a:r>
            <a:endParaRPr lang="fa-IR" sz="2400">
              <a:latin typeface="B Nazanin"/>
              <a:ea typeface="B Nazanin"/>
              <a:cs typeface="B Nazanin"/>
            </a:endParaRPr>
          </a:p>
        </p:txBody>
      </p:sp>
      <p:sp>
        <p:nvSpPr>
          <p:cNvPr id="452" name="Text 452"/>
          <p:cNvSpPr txBox="1"/>
          <p:nvPr/>
        </p:nvSpPr>
        <p:spPr>
          <a:xfrm>
            <a:off x="1000000" y="2750000"/>
            <a:ext cx="97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9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9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چارچوب پیشنهادی از نظر قرارداد داده، کنترل نشت، تفکیک هدف‌ها و آزمون حذف مؤلفه قابل بازتولید است.</a:t>
            </a:r>
            <a:endParaRPr lang="fa-IR" sz="19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900" b="0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1900" b="0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اما هیچ مدل یا پیکربندی از معیار پذیرش عبور نکرد و شواهد کافی برای استقرار یا ادعای سودآوری به دست نیامد.</a:t>
            </a:r>
            <a:endParaRPr lang="fa-IR" sz="1900">
              <a:latin typeface="B Nazanin"/>
              <a:ea typeface="B Nazanin"/>
              <a:cs typeface="B Nazanin"/>
            </a:endParaRPr>
          </a:p>
        </p:txBody>
      </p:sp>
      <p:sp>
        <p:nvSpPr>
          <p:cNvPr id="453" name="Pill"/>
          <p:cNvSpPr/>
          <p:nvPr/>
        </p:nvSpPr>
        <p:spPr>
          <a:xfrm>
            <a:off x="3900000" y="5100000"/>
            <a:ext cx="4900000" cy="650000"/>
          </a:xfrm>
          <a:prstGeom prst="roundRect">
            <a:avLst/>
          </a:prstGeom>
          <a:solidFill>
            <a:srgbClr val="21C4B1"/>
          </a:solidFill>
          <a:ln>
            <a:noFill/>
          </a:ln>
        </p:spPr>
      </p:sp>
      <p:sp>
        <p:nvSpPr>
          <p:cNvPr id="454" name="Text 454"/>
          <p:cNvSpPr txBox="1"/>
          <p:nvPr/>
        </p:nvSpPr>
        <p:spPr>
          <a:xfrm>
            <a:off x="3900000" y="5100000"/>
            <a:ext cx="49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40000" rIns="40000" tIns="60000" bIns="60000" anchor="ctr"/>
          <a:lstStyle/>
          <a:p>
            <a:pPr algn="ctr" rtl="1" marL="0" indent="0">
              <a:def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defRPr>
            </a:pPr>
            <a:r>
              <a:rPr lang="fa-IR" sz="1600" b="1">
                <a:solidFill>
                  <a:srgbClr val="08101F"/>
                </a:solidFill>
                <a:latin typeface="B Nazanin"/>
                <a:ea typeface="B Nazanin"/>
                <a:cs typeface="B Nazanin"/>
              </a:rPr>
              <a:t>دستاورد اصلی: پروتکل شفاف و قابل ممیزی</a:t>
            </a:r>
            <a:endParaRPr lang="fa-IR" sz="1600">
              <a:latin typeface="B Nazanin"/>
              <a:ea typeface="B Nazanin"/>
              <a:cs typeface="B Nazanin"/>
            </a:endParaRPr>
          </a:p>
        </p:txBody>
      </p:sp>
      <p:sp>
        <p:nvSpPr>
          <p:cNvPr id="454" name="Text 454"/>
          <p:cNvSpPr txBox="1"/>
          <p:nvPr/>
        </p:nvSpPr>
        <p:spPr>
          <a:xfrm>
            <a:off x="700000" y="6050000"/>
            <a:ext cx="103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5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5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این نتیجه منفی، دامنه ادعا را محدود می‌کند؛ نه اینکه همه بازارها و همه برآوردگرهای Hurst را رد کند.</a:t>
            </a:r>
            <a:endParaRPr lang="fa-IR" sz="15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32B"/>
      </a:solidFill>
      <a:effectLst/>
    </p:bgPr>
  </p:bg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 accent"/>
          <p:cNvSpPr/>
          <p:nvPr/>
        </p:nvSpPr>
        <p:spPr>
          <a:xfrm>
            <a:off x="600000" y="920000"/>
            <a:ext cx="2200000" cy="5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902" name="Footer"/>
          <p:cNvSpPr txBox="1"/>
          <p:nvPr/>
        </p:nvSpPr>
        <p:spPr>
          <a:xfrm>
            <a:off x="600000" y="640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r" rtl="1" marL="0" indent="0">
              <a:def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0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ارائه پژوهش | اسلاید 17 | B Nazanin</a:t>
            </a:r>
            <a:endParaRPr lang="fa-IR" sz="1000">
              <a:latin typeface="B Nazanin"/>
              <a:ea typeface="B Nazanin"/>
              <a:cs typeface="B Nazanin"/>
            </a:endParaRPr>
          </a:p>
        </p:txBody>
      </p:sp>
      <p:sp>
        <p:nvSpPr>
          <p:cNvPr id="460" name="Ellipse"/>
          <p:cNvSpPr/>
          <p:nvPr/>
        </p:nvSpPr>
        <p:spPr>
          <a:xfrm>
            <a:off x="9500000" y="8200000"/>
            <a:ext cx="1100000" cy="1700000"/>
          </a:xfrm>
          <a:prstGeom prst="ellipse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461" name="Text 461"/>
          <p:cNvSpPr txBox="1"/>
          <p:nvPr/>
        </p:nvSpPr>
        <p:spPr>
          <a:xfrm>
            <a:off x="650000" y="15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3400" b="1">
                <a:solidFill>
                  <a:srgbClr val="F4F6FB"/>
                </a:solidFill>
                <a:latin typeface="B Nazanin"/>
                <a:ea typeface="B Nazanin"/>
                <a:cs typeface="B Nazanin"/>
              </a:defRPr>
            </a:pPr>
            <a:r>
              <a:rPr lang="fa-IR" sz="3400" b="1">
                <a:solidFill>
                  <a:srgbClr val="F4F6FB"/>
                </a:solidFill>
                <a:latin typeface="B Nazanin"/>
                <a:ea typeface="B Nazanin"/>
                <a:cs typeface="B Nazanin"/>
              </a:rPr>
              <a:t>سپاس از توجه شما</a:t>
            </a:r>
            <a:endParaRPr lang="fa-IR" sz="3400">
              <a:latin typeface="B Nazanin"/>
              <a:ea typeface="B Nazanin"/>
              <a:cs typeface="B Nazanin"/>
            </a:endParaRPr>
          </a:p>
        </p:txBody>
      </p:sp>
      <p:sp>
        <p:nvSpPr>
          <p:cNvPr id="462" name="Rectangle"/>
          <p:cNvSpPr/>
          <p:nvPr/>
        </p:nvSpPr>
        <p:spPr>
          <a:xfrm>
            <a:off x="650000" y="2750000"/>
            <a:ext cx="3600000" cy="70000"/>
          </a:xfrm>
          <a:prstGeom prst="rect">
            <a:avLst/>
          </a:prstGeom>
          <a:solidFill>
            <a:srgbClr val="E0B24A"/>
          </a:solidFill>
          <a:ln>
            <a:noFill/>
          </a:ln>
        </p:spPr>
      </p:sp>
      <p:sp>
        <p:nvSpPr>
          <p:cNvPr id="463" name="Text 463"/>
          <p:cNvSpPr txBox="1"/>
          <p:nvPr/>
        </p:nvSpPr>
        <p:spPr>
          <a:xfrm>
            <a:off x="650000" y="315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2400" b="1">
                <a:solidFill>
                  <a:srgbClr val="21C4B1"/>
                </a:solidFill>
                <a:latin typeface="B Nazanin"/>
                <a:ea typeface="B Nazanin"/>
                <a:cs typeface="B Nazanin"/>
              </a:defRPr>
            </a:pPr>
            <a:r>
              <a:rPr lang="fa-IR" sz="2400" b="1">
                <a:solidFill>
                  <a:srgbClr val="21C4B1"/>
                </a:solidFill>
                <a:latin typeface="B Nazanin"/>
                <a:ea typeface="B Nazanin"/>
                <a:cs typeface="B Nazanin"/>
              </a:rPr>
              <a:t>پرسش و پاسخ</a:t>
            </a:r>
            <a:endParaRPr lang="fa-IR" sz="2400">
              <a:latin typeface="B Nazanin"/>
              <a:ea typeface="B Nazanin"/>
              <a:cs typeface="B Nazanin"/>
            </a:endParaRPr>
          </a:p>
        </p:txBody>
      </p:sp>
      <p:sp>
        <p:nvSpPr>
          <p:cNvPr id="464" name="Text 464"/>
          <p:cNvSpPr txBox="1"/>
          <p:nvPr/>
        </p:nvSpPr>
        <p:spPr>
          <a:xfrm>
            <a:off x="650000" y="4400000"/>
            <a:ext cx="104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1" lIns="120000" rIns="120000" tIns="60000" bIns="60000" anchor="ctr"/>
          <a:lstStyle/>
          <a:p>
            <a:pPr algn="ctr" rtl="1" marL="0" indent="0">
              <a:defRPr lang="fa-IR" sz="17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برای پاسخ به داوران، مرجع عددی ارائه اجرای نهایی</a:t>
            </a:r>
            <a:endParaRPr lang="fa-IR" sz="1700">
              <a:latin typeface="B Nazanin"/>
              <a:ea typeface="B Nazanin"/>
              <a:cs typeface="B Nazanin"/>
            </a:endParaRPr>
          </a:p>
          <a:p>
            <a:pPr algn="ctr" rtl="1" marL="0" indent="0">
              <a:defRPr lang="fa-IR" sz="1700" b="0">
                <a:solidFill>
                  <a:srgbClr val="AAB4C8"/>
                </a:solidFill>
                <a:latin typeface="B Nazanin"/>
                <a:ea typeface="B Nazanin"/>
                <a:cs typeface="B Nazanin"/>
              </a:defRPr>
            </a:pPr>
            <a:r>
              <a:rPr lang="fa-IR" sz="1700" b="0">
                <a:solidFill>
                  <a:srgbClr val="AAB4C8"/>
                </a:solidFill>
                <a:latin typeface="B Nazanin"/>
                <a:ea typeface="B Nazanin"/>
                <a:cs typeface="B Nazanin"/>
              </a:rPr>
              <a:t>executable_direction_hurst_ablation_v3 است.</a:t>
            </a:r>
            <a:endParaRPr lang="fa-IR" sz="1700">
              <a:latin typeface="B Nazanin"/>
              <a:ea typeface="B Nazanin"/>
              <a:cs typeface="B Nazan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GE Gold">
  <a:themeElements>
    <a:clrScheme name="HGE Gold">
      <a:dk1>
        <a:srgbClr val="0B132B"/>
      </a:dk1>
      <a:lt1>
        <a:srgbClr val="F4F6FB"/>
      </a:lt1>
      <a:dk2>
        <a:srgbClr val="14213D"/>
      </a:dk2>
      <a:lt2>
        <a:srgbClr val="AAB4C8"/>
      </a:lt2>
      <a:accent1>
        <a:srgbClr val="E0B24A"/>
      </a:accent1>
      <a:accent2>
        <a:srgbClr val="21C4B1"/>
      </a:accent2>
      <a:accent3>
        <a:srgbClr val="6EA8FE"/>
      </a:accent3>
      <a:accent4>
        <a:srgbClr val="D96565"/>
      </a:accent4>
      <a:accent5>
        <a:srgbClr val="62D394"/>
      </a:accent5>
      <a:accent6>
        <a:srgbClr val="1B2A49"/>
      </a:accent6>
      <a:hlink>
        <a:srgbClr val="6EA8FE"/>
      </a:hlink>
      <a:folHlink>
        <a:srgbClr val="AAB4C8"/>
      </a:folHlink>
    </a:clrScheme>
    <a:fontScheme name="B Nazanin">
      <a:majorFont>
        <a:latin typeface="B Nazanin"/>
        <a:ea typeface="B Nazanin"/>
        <a:cs typeface="B Nazanin"/>
      </a:majorFont>
      <a:minorFont>
        <a:latin typeface="B Nazanin"/>
        <a:ea typeface="B Nazanin"/>
        <a:cs typeface="B Nazanin"/>
      </a:minorFont>
    </a:fontScheme>
    <a:fmtScheme name="HGE">
      <a:fillStyleLst>
        <a:solidFill>
          <a:srgbClr val="E0B24A"/>
        </a:solidFill>
        <a:solidFill>
          <a:srgbClr val="21C4B1"/>
        </a:solidFill>
        <a:solidFill>
          <a:srgbClr val="14213D"/>
        </a:solidFill>
      </a:fillStyleLst>
      <a:lnStyleLst>
        <a:ln w="12700">
          <a:solidFill>
            <a:srgbClr val="E0B24A"/>
          </a:solidFill>
        </a:ln>
        <a:ln w="12700">
          <a:solidFill>
            <a:srgbClr val="21C4B1"/>
          </a:solidFill>
        </a:ln>
        <a:ln w="12700">
          <a:solidFill>
            <a:srgbClr val="F4F6FB"/>
          </a:solidFill>
        </a:ln>
      </a:lnStyleLst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PresentationFormat>On-screen Show (16:9)</PresentationFormat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پیش‌بینی چندافقی جهت قیمت طلا با چارچوب ترکیبی مبتنی بر نمای هرست</dc:title>
  <dc:subject>ارائه ۱۵ تا ۲۰ دقیقه‌ای پایان‌نامه</dc:subject>
  <dc:creator>Codex</dc:creator>
  <cp:lastModifiedBy>Codex</cp:lastModifiedBy>
  <dcterms:created xsi:type="dcterms:W3CDTF">2026-09-14T00:00:00Z</dcterms:created>
</cp:coreProperties>
</file>